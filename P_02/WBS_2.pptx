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562725" cy="86868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C542B7-E104-6E4A-98D8-E071FC86D00D}" v="501" dt="2026-05-13T11:08:22.916"/>
    <p1510:client id="{E07141D7-50FC-8147-F430-E2EEF2ED4059}" v="682" dt="2026-05-13T11:56:44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52" name="Picture 12">
            <a:extLst>
              <a:ext uri="{FF2B5EF4-FFF2-40B4-BE49-F238E27FC236}">
                <a16:creationId xmlns:a16="http://schemas.microsoft.com/office/drawing/2014/main" id="{0579C355-F453-BD87-D9F6-A1DC491E138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2425"/>
            <a:ext cx="1655763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>
            <a:extLst>
              <a:ext uri="{FF2B5EF4-FFF2-40B4-BE49-F238E27FC236}">
                <a16:creationId xmlns:a16="http://schemas.microsoft.com/office/drawing/2014/main" id="{ACFBF088-43B8-5CC4-56D4-FA41FDCF2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1628775"/>
            <a:ext cx="7524750" cy="5229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8A282F5F-1F3D-0A2B-77C8-3FE47935A6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73250" y="2130425"/>
            <a:ext cx="7089775" cy="20193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pl-PL" altLang="en-US" noProof="0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487290FC-9353-EBEC-644A-B39C91417BCB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73250" y="5697538"/>
            <a:ext cx="7089775" cy="900112"/>
          </a:xfrm>
        </p:spPr>
        <p:txBody>
          <a:bodyPr anchor="b"/>
          <a:lstStyle>
            <a:lvl1pPr marL="0" indent="0" algn="ctr">
              <a:buFontTx/>
              <a:buNone/>
              <a:defRPr sz="2000">
                <a:solidFill>
                  <a:srgbClr val="FFD3A1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pl-PL" altLang="en-US" noProof="0"/>
          </a:p>
        </p:txBody>
      </p:sp>
      <p:pic>
        <p:nvPicPr>
          <p:cNvPr id="35856" name="Picture 16">
            <a:extLst>
              <a:ext uri="{FF2B5EF4-FFF2-40B4-BE49-F238E27FC236}">
                <a16:creationId xmlns:a16="http://schemas.microsoft.com/office/drawing/2014/main" id="{C081542E-AB11-0866-53B3-116373B32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463"/>
            <a:ext cx="7742238" cy="164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36AE-DB80-142F-0AF6-E1EF6F70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962F5-C0EF-CBF1-67F0-C605DCDA1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3649586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F08B7-22DD-2598-300D-39708D65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354F6-AD65-B03A-D16A-9A79237C5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7030913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1F9D-F2C6-C130-8A7C-A6CD5E25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5484-9D9A-BEB1-7EF7-E47060516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881188"/>
            <a:ext cx="4135437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414C7-75CA-C352-2D2E-33367C1C9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9025" y="1881188"/>
            <a:ext cx="41370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3167628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CE0E-E0D0-358E-4953-DD06D9E7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C7861-24CD-EE71-C28F-F877C88BB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56C24-921D-7F10-A805-F03C32979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1E567-4DEC-9E6C-E0C3-6A7E57EE8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472B7-AAB0-F8F5-8664-B35F8F910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1848380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86D1-5C6E-E5CC-968D-5B06EE85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2378742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181546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AE8A-2577-2A6C-EEB4-643A2659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E524-8179-A7B7-6A2B-B1F60EB40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0458D-95C2-84B6-71E0-A7DB78E7B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2955427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5258-6400-7047-0347-5FD28A9B4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289088-5D53-0533-9B71-760D34E37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FF024-9D23-EA78-459B-3B4407184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9328520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4B32-EAAF-8EDD-611C-31940184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89C4B-DD9C-C6B6-3786-CF753629F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1776634"/>
      </p:ext>
    </p:extLst>
  </p:cSld>
  <p:clrMapOvr>
    <a:masterClrMapping/>
  </p:clrMapOvr>
  <p:transition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21A528-69E9-E4C1-5995-DB2F78B27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025" y="630238"/>
            <a:ext cx="2105025" cy="6111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0C126-E0AF-B78A-EC36-AFDFA46F4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630238"/>
            <a:ext cx="6167437" cy="611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54972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>
            <a:extLst>
              <a:ext uri="{FF2B5EF4-FFF2-40B4-BE49-F238E27FC236}">
                <a16:creationId xmlns:a16="http://schemas.microsoft.com/office/drawing/2014/main" id="{C34E6C08-8F18-A34F-A698-317394A21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481013"/>
            <a:ext cx="8640762" cy="1292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53441602-151A-4F6F-9455-543FE05637C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0" y="1773238"/>
            <a:ext cx="503238" cy="5084762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83B7B76C-0F24-2904-2C42-E03534E1B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30238"/>
            <a:ext cx="8424862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en-US"/>
              <a:t>Kliknij, aby edytować styl wzorca tytułu</a:t>
            </a:r>
          </a:p>
        </p:txBody>
      </p:sp>
      <p:sp>
        <p:nvSpPr>
          <p:cNvPr id="9231" name="Rectangle 15">
            <a:extLst>
              <a:ext uri="{FF2B5EF4-FFF2-40B4-BE49-F238E27FC236}">
                <a16:creationId xmlns:a16="http://schemas.microsoft.com/office/drawing/2014/main" id="{27F086E7-43A9-72E9-CE55-4330C946B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81188"/>
            <a:ext cx="8424862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en-US"/>
              <a:t>Kliknij, aby edytować style wzorca tekstu</a:t>
            </a:r>
          </a:p>
          <a:p>
            <a:pPr lvl="1"/>
            <a:r>
              <a:rPr lang="pl-PL" altLang="en-US"/>
              <a:t>Drugi poziom</a:t>
            </a:r>
          </a:p>
          <a:p>
            <a:pPr lvl="2"/>
            <a:r>
              <a:rPr lang="pl-PL" altLang="en-US"/>
              <a:t>Trzeci poziom</a:t>
            </a:r>
          </a:p>
          <a:p>
            <a:pPr lvl="3"/>
            <a:r>
              <a:rPr lang="pl-PL" altLang="en-US"/>
              <a:t>Czwarty poziom</a:t>
            </a:r>
          </a:p>
          <a:p>
            <a:pPr lvl="4"/>
            <a:r>
              <a:rPr lang="pl-PL" altLang="en-US"/>
              <a:t>Piąty poziom</a:t>
            </a:r>
          </a:p>
        </p:txBody>
      </p:sp>
      <p:pic>
        <p:nvPicPr>
          <p:cNvPr id="9234" name="Picture 18">
            <a:extLst>
              <a:ext uri="{FF2B5EF4-FFF2-40B4-BE49-F238E27FC236}">
                <a16:creationId xmlns:a16="http://schemas.microsoft.com/office/drawing/2014/main" id="{A7E04EFA-9846-B484-1CE5-1470C7AC2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19050"/>
            <a:ext cx="2341563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70302020209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70302020209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70302020209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70302020209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70302020209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70302020209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70302020209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70302020209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4C6E0984-3970-5FB4-75EB-3167507A586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l-PL" altLang="en-US"/>
              <a:t>Web-</a:t>
            </a:r>
            <a:r>
              <a:rPr lang="pl-PL" altLang="en-US" err="1"/>
              <a:t>based</a:t>
            </a:r>
            <a:r>
              <a:rPr lang="pl-PL" altLang="en-US"/>
              <a:t> Systems</a:t>
            </a:r>
            <a:br>
              <a:rPr lang="pl-PL" altLang="en-US"/>
            </a:br>
            <a:r>
              <a:rPr lang="pl-PL" altLang="en-US"/>
              <a:t>Project 2 – Google Analytics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177843E-0CCA-CF49-8B47-06AAE9FC0E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l-PL" altLang="en-US" sz="1200" i="1"/>
              <a:t>Wykonali:</a:t>
            </a:r>
            <a:br>
              <a:rPr lang="pl-PL" altLang="en-US" sz="1200" i="1"/>
            </a:br>
            <a:r>
              <a:rPr lang="pl-PL" altLang="en-US" sz="1200" i="1"/>
              <a:t>Jakub Kamiński 273107</a:t>
            </a:r>
            <a:br>
              <a:rPr lang="pl-PL" altLang="en-US" sz="1200" i="1"/>
            </a:br>
            <a:r>
              <a:rPr lang="pl-PL" altLang="en-US" sz="1200" i="1"/>
              <a:t>Adam Ćwikliński 273055</a:t>
            </a:r>
          </a:p>
        </p:txBody>
      </p:sp>
    </p:spTree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6AAA-9562-5979-BDE8-45002AF8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630238"/>
            <a:ext cx="8424862" cy="1035050"/>
          </a:xfrm>
        </p:spPr>
        <p:txBody>
          <a:bodyPr wrap="square" anchor="ctr">
            <a:normAutofit/>
          </a:bodyPr>
          <a:lstStyle/>
          <a:p>
            <a:r>
              <a:rPr lang="en-US"/>
              <a:t>Goals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47F18-D973-9138-E643-FA13D2FA7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881188"/>
            <a:ext cx="4135437" cy="4860925"/>
          </a:xfrm>
        </p:spPr>
        <p:txBody>
          <a:bodyPr wrap="square" anchor="t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200"/>
              <a:t>Google Merchandise Store analysis using Google Analytics 4 Demo Account</a:t>
            </a:r>
          </a:p>
          <a:p>
            <a:pPr>
              <a:lnSpc>
                <a:spcPct val="90000"/>
              </a:lnSpc>
            </a:pPr>
            <a:r>
              <a:rPr lang="en-US" sz="2200"/>
              <a:t>Understand: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Customer acquisition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Customer engagement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Revenue generation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Purchase funnel behavior</a:t>
            </a:r>
          </a:p>
          <a:p>
            <a:pPr>
              <a:lnSpc>
                <a:spcPct val="90000"/>
              </a:lnSpc>
            </a:pPr>
            <a:r>
              <a:rPr lang="en-US" sz="2200"/>
              <a:t>Compare: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Full-day analysis (17.04)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One-hour analysis (16:00 - 16:59)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2200"/>
            </a:br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A9A60-4B51-EDDF-2BD9-313AE8A66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025" y="3137770"/>
            <a:ext cx="4137025" cy="2347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81737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68FB-E997-7C35-3629-EF41BDA9C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Customer Acquisition Analysis </a:t>
            </a:r>
            <a:endParaRPr lang="pl-PL"/>
          </a:p>
        </p:txBody>
      </p:sp>
      <p:pic>
        <p:nvPicPr>
          <p:cNvPr id="4" name="Symbol zastępczy zawartości 3" descr="Obraz zawierający tekst, numer, zrzut ekranu, Równolegle&#10;&#10;Zawartość wygenerowana przez AI może być niepoprawna.">
            <a:extLst>
              <a:ext uri="{FF2B5EF4-FFF2-40B4-BE49-F238E27FC236}">
                <a16:creationId xmlns:a16="http://schemas.microsoft.com/office/drawing/2014/main" id="{EC1C6473-EF54-244F-20E2-CB8CDF51E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82336" y="1828800"/>
            <a:ext cx="8075612" cy="223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Obraz 4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53851438-5AF9-D5FA-9677-8BCB45D61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36" y="4343400"/>
            <a:ext cx="8150224" cy="22766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50C214-939B-7F40-427B-30C3E6D4358B}"/>
              </a:ext>
            </a:extLst>
          </p:cNvPr>
          <p:cNvSpPr txBox="1"/>
          <p:nvPr/>
        </p:nvSpPr>
        <p:spPr>
          <a:xfrm>
            <a:off x="4019105" y="4061112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9B56D5-26ED-12C7-0DDC-DAFDFA567151}"/>
              </a:ext>
            </a:extLst>
          </p:cNvPr>
          <p:cNvSpPr txBox="1"/>
          <p:nvPr/>
        </p:nvSpPr>
        <p:spPr>
          <a:xfrm>
            <a:off x="4140522" y="6591129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>
                <a:latin typeface="Arial"/>
                <a:cs typeface="Arial"/>
              </a:rPr>
              <a:t>Data from 16 PM</a:t>
            </a:r>
          </a:p>
        </p:txBody>
      </p:sp>
    </p:spTree>
    <p:extLst>
      <p:ext uri="{BB962C8B-B14F-4D97-AF65-F5344CB8AC3E}">
        <p14:creationId xmlns:p14="http://schemas.microsoft.com/office/powerpoint/2010/main" val="998644859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B9FF-93F4-C9CF-D211-881BC80A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Technology Performance Analysis 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6446A-0D55-FBC1-F860-5CB60A68E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133600"/>
            <a:ext cx="8263471" cy="121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1F886A-97C0-1CA9-CE89-CF2172C22C41}"/>
              </a:ext>
            </a:extLst>
          </p:cNvPr>
          <p:cNvSpPr txBox="1"/>
          <p:nvPr/>
        </p:nvSpPr>
        <p:spPr>
          <a:xfrm>
            <a:off x="3833657" y="3429000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5F7E017-C8F5-4994-0794-2E21B0C70701}"/>
              </a:ext>
            </a:extLst>
          </p:cNvPr>
          <p:cNvSpPr txBox="1"/>
          <p:nvPr/>
        </p:nvSpPr>
        <p:spPr>
          <a:xfrm>
            <a:off x="3838074" y="5438274"/>
            <a:ext cx="169645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000000"/>
                </a:solidFill>
                <a:latin typeface="Arial"/>
              </a:rPr>
              <a:t>Data from </a:t>
            </a:r>
            <a:r>
              <a:rPr lang="en-US" sz="1100">
                <a:solidFill>
                  <a:srgbClr val="000000"/>
                </a:solidFill>
                <a:latin typeface="Arial"/>
                <a:cs typeface="Arial"/>
              </a:rPr>
              <a:t>16 PM</a:t>
            </a:r>
            <a:r>
              <a:rPr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pl-PL"/>
          </a:p>
        </p:txBody>
      </p:sp>
      <p:pic>
        <p:nvPicPr>
          <p:cNvPr id="8" name="Obraz 7" descr="Obraz zawierający tekst, zrzut ekranu, linia, numer&#10;&#10;Zawartość wygenerowana przez AI może być niepoprawna.">
            <a:extLst>
              <a:ext uri="{FF2B5EF4-FFF2-40B4-BE49-F238E27FC236}">
                <a16:creationId xmlns:a16="http://schemas.microsoft.com/office/drawing/2014/main" id="{9BA2568F-7CAC-482B-8281-C42D7FF2C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97793"/>
            <a:ext cx="8265694" cy="1046246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BE26EC6F-8BFB-BEB4-0C49-1BF7BFA2F81E}"/>
              </a:ext>
            </a:extLst>
          </p:cNvPr>
          <p:cNvSpPr txBox="1"/>
          <p:nvPr/>
        </p:nvSpPr>
        <p:spPr>
          <a:xfrm>
            <a:off x="605087" y="3848099"/>
            <a:ext cx="844867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200">
                <a:latin typeface="Arial"/>
                <a:cs typeface="Arial"/>
              </a:rPr>
              <a:t>Traffic Volume: Mobile is the leading device category in terms of reach, attracting 1,980 active users and 1,898 new users.</a:t>
            </a:r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1D997B8-7C2C-4AE5-2407-00D13D89E121}"/>
              </a:ext>
            </a:extLst>
          </p:cNvPr>
          <p:cNvSpPr txBox="1"/>
          <p:nvPr/>
        </p:nvSpPr>
        <p:spPr>
          <a:xfrm>
            <a:off x="616993" y="5905500"/>
            <a:ext cx="82912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highlight>
                  <a:srgbClr val="FFFFFF"/>
                </a:highlight>
                <a:latin typeface="Aptos"/>
              </a:rPr>
              <a:t>The data suggests that while the store attracts more users via mobile, the actual purchasing power and deep engagement are driven almost exclusively by desktop users.</a:t>
            </a:r>
            <a:endParaRPr lang="pl-PL" sz="1200">
              <a:highlight>
                <a:srgbClr val="FFFFFF"/>
              </a:highlight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07814872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3C1C-8D66-862B-31EF-C4C45D7B4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Browsers: Analysis of the most popular Browsers used by customers.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E5FC5-F360-963A-2ACB-EB5975551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32" y="1840832"/>
            <a:ext cx="8217568" cy="2397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CF98FB-402B-6057-0646-5B8202EC5E1A}"/>
              </a:ext>
            </a:extLst>
          </p:cNvPr>
          <p:cNvSpPr txBox="1"/>
          <p:nvPr/>
        </p:nvSpPr>
        <p:spPr>
          <a:xfrm>
            <a:off x="3978036" y="6185106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  <a:endParaRPr lang="en-US" sz="1100" i="1">
              <a:cs typeface="Arial"/>
            </a:endParaRPr>
          </a:p>
        </p:txBody>
      </p:sp>
      <p:pic>
        <p:nvPicPr>
          <p:cNvPr id="6" name="Obraz 5" descr="Obraz zawierający tekst, zrzut ekranu, linia, numer&#10;&#10;Zawartość wygenerowana przez AI może być niepoprawna.">
            <a:extLst>
              <a:ext uri="{FF2B5EF4-FFF2-40B4-BE49-F238E27FC236}">
                <a16:creationId xmlns:a16="http://schemas.microsoft.com/office/drawing/2014/main" id="{BE6A6449-00B5-F64E-2191-ADBC92285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43" y="4510338"/>
            <a:ext cx="8229600" cy="1506955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572E34DA-7DAE-E5CE-1297-D6000C8421A5}"/>
              </a:ext>
            </a:extLst>
          </p:cNvPr>
          <p:cNvSpPr txBox="1"/>
          <p:nvPr/>
        </p:nvSpPr>
        <p:spPr>
          <a:xfrm>
            <a:off x="3978035" y="4248021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</p:spTree>
    <p:extLst>
      <p:ext uri="{BB962C8B-B14F-4D97-AF65-F5344CB8AC3E}">
        <p14:creationId xmlns:p14="http://schemas.microsoft.com/office/powerpoint/2010/main" val="3103423274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83EB-38F1-818F-7C2B-50152ED5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Operating Systems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9B094-8B47-D82F-1E9C-2F2FFFE44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19" y="1840661"/>
            <a:ext cx="7772400" cy="2001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77EDC0-2005-D07F-2253-5519D9337BA9}"/>
              </a:ext>
            </a:extLst>
          </p:cNvPr>
          <p:cNvSpPr txBox="1"/>
          <p:nvPr/>
        </p:nvSpPr>
        <p:spPr>
          <a:xfrm>
            <a:off x="3833657" y="3841937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6" name="Obraz 5" descr="Obraz zawierający tekst, zrzut ekranu, numer, linia&#10;&#10;Zawartość wygenerowana przez AI może być niepoprawna.">
            <a:extLst>
              <a:ext uri="{FF2B5EF4-FFF2-40B4-BE49-F238E27FC236}">
                <a16:creationId xmlns:a16="http://schemas.microsoft.com/office/drawing/2014/main" id="{53D8082F-B3A9-0165-9001-7218CC08C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63" y="4105274"/>
            <a:ext cx="7784433" cy="1968165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82ACB092-9534-0E05-9C07-2DAD28428CB0}"/>
              </a:ext>
            </a:extLst>
          </p:cNvPr>
          <p:cNvSpPr txBox="1"/>
          <p:nvPr/>
        </p:nvSpPr>
        <p:spPr>
          <a:xfrm>
            <a:off x="3833656" y="6079810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</a:p>
        </p:txBody>
      </p:sp>
    </p:spTree>
    <p:extLst>
      <p:ext uri="{BB962C8B-B14F-4D97-AF65-F5344CB8AC3E}">
        <p14:creationId xmlns:p14="http://schemas.microsoft.com/office/powerpoint/2010/main" val="2680499869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03B5-A831-4AD9-616C-F3A9A2CC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Traffic Acquisition Analysis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C37B3-D1E3-EC6E-2E11-48B1DE4E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1789"/>
            <a:ext cx="7467600" cy="2252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090122-C137-4ECA-6005-C5C9EA8B8CDE}"/>
              </a:ext>
            </a:extLst>
          </p:cNvPr>
          <p:cNvSpPr txBox="1"/>
          <p:nvPr/>
        </p:nvSpPr>
        <p:spPr>
          <a:xfrm>
            <a:off x="3833657" y="4039970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6" name="Obraz 5" descr="Obraz zawierający tekst, zrzut ekranu, numer, linia&#10;&#10;Zawartość wygenerowana przez AI może być niepoprawna.">
            <a:extLst>
              <a:ext uri="{FF2B5EF4-FFF2-40B4-BE49-F238E27FC236}">
                <a16:creationId xmlns:a16="http://schemas.microsoft.com/office/drawing/2014/main" id="{0AB51F38-78E3-D731-FCDF-06A2C8ECD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1" y="4304548"/>
            <a:ext cx="8145378" cy="1786188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B084615D-93DC-4345-0419-164634DF8BED}"/>
              </a:ext>
            </a:extLst>
          </p:cNvPr>
          <p:cNvSpPr txBox="1"/>
          <p:nvPr/>
        </p:nvSpPr>
        <p:spPr>
          <a:xfrm>
            <a:off x="3833656" y="6217685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</a:p>
        </p:txBody>
      </p:sp>
    </p:spTree>
    <p:extLst>
      <p:ext uri="{BB962C8B-B14F-4D97-AF65-F5344CB8AC3E}">
        <p14:creationId xmlns:p14="http://schemas.microsoft.com/office/powerpoint/2010/main" val="794613935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457EC6C0-3F21-5388-1F1E-3FABB2C9B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Customer Engagement Analysis &amp; Site structure </a:t>
            </a:r>
            <a:endParaRPr lang="pl-PL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A17972-419A-58E9-8103-11FF268BE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322" y="1863979"/>
            <a:ext cx="4315326" cy="2497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A50820-DB26-2762-4F07-07B86BB7C938}"/>
              </a:ext>
            </a:extLst>
          </p:cNvPr>
          <p:cNvSpPr txBox="1"/>
          <p:nvPr/>
        </p:nvSpPr>
        <p:spPr>
          <a:xfrm>
            <a:off x="6612952" y="2515905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2" name="Obraz 1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17C32016-82F3-358C-C21E-C8CAA3D5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1" y="4359694"/>
            <a:ext cx="7291136" cy="2121066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DA706248-E3B8-96B0-49F4-E947B64F8E36}"/>
              </a:ext>
            </a:extLst>
          </p:cNvPr>
          <p:cNvSpPr txBox="1"/>
          <p:nvPr/>
        </p:nvSpPr>
        <p:spPr>
          <a:xfrm>
            <a:off x="7611572" y="6486325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  <a:endParaRPr lang="en-US" sz="1100" i="1">
              <a:cs typeface="Arial"/>
            </a:endParaRPr>
          </a:p>
        </p:txBody>
      </p:sp>
    </p:spTree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B255-5F81-A029-45A5-FF92CE7EC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User Path Exploration Analysis </a:t>
            </a:r>
            <a:endParaRPr lang="en-US"/>
          </a:p>
        </p:txBody>
      </p:sp>
      <p:pic>
        <p:nvPicPr>
          <p:cNvPr id="135170" name="Picture 2">
            <a:extLst>
              <a:ext uri="{FF2B5EF4-FFF2-40B4-BE49-F238E27FC236}">
                <a16:creationId xmlns:a16="http://schemas.microsoft.com/office/drawing/2014/main" id="{E7F94418-785F-2386-5DFA-CCDF454FF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828800"/>
            <a:ext cx="3271626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97CA0B-B84D-5AE4-FB6B-6AEC232FE37A}"/>
              </a:ext>
            </a:extLst>
          </p:cNvPr>
          <p:cNvSpPr txBox="1"/>
          <p:nvPr/>
        </p:nvSpPr>
        <p:spPr>
          <a:xfrm>
            <a:off x="1219200" y="6172200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3" name="Obraz 2" descr="Obraz zawierający tekst, zrzut ekranu, Czcionka, diagram&#10;&#10;Zawartość wygenerowana przez AI może być niepoprawna.">
            <a:extLst>
              <a:ext uri="{FF2B5EF4-FFF2-40B4-BE49-F238E27FC236}">
                <a16:creationId xmlns:a16="http://schemas.microsoft.com/office/drawing/2014/main" id="{9A949A34-7C14-09EF-396D-04B8BFD58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453" y="1829301"/>
            <a:ext cx="3593432" cy="4414587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1C139C07-B141-1568-C5C5-048B566037EB}"/>
              </a:ext>
            </a:extLst>
          </p:cNvPr>
          <p:cNvSpPr txBox="1"/>
          <p:nvPr/>
        </p:nvSpPr>
        <p:spPr>
          <a:xfrm>
            <a:off x="6152146" y="6172199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  <a:endParaRPr lang="en-US" sz="1100" i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6029283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0DD3-90DB-A651-C474-9C8C96E9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Active Users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B6DA2-91F1-2661-D75C-7DCFEB53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7772400" cy="24599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8D12B7-EA4D-F930-A52E-1ECB9F301985}"/>
              </a:ext>
            </a:extLst>
          </p:cNvPr>
          <p:cNvSpPr txBox="1"/>
          <p:nvPr/>
        </p:nvSpPr>
        <p:spPr>
          <a:xfrm>
            <a:off x="3834063" y="4157907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3" name="Obraz 2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04EEE1CB-5D90-D97B-AD00-B5D7B59B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90" y="4405313"/>
            <a:ext cx="7615989" cy="219826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4E298559-44AB-ECCC-EE2F-8759FFC2330D}"/>
              </a:ext>
            </a:extLst>
          </p:cNvPr>
          <p:cNvSpPr txBox="1"/>
          <p:nvPr/>
        </p:nvSpPr>
        <p:spPr>
          <a:xfrm>
            <a:off x="3834062" y="6612348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  <a:endParaRPr lang="en-US" sz="1100" i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828768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C47C-95AA-12A5-2BBD-ACF3DE12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Number of events 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36D05-DBDB-FC72-C0CA-505ADABB7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19" y="1828800"/>
            <a:ext cx="7772400" cy="21155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F69D25-4D93-5658-591A-1C5B2ED8CCDA}"/>
              </a:ext>
            </a:extLst>
          </p:cNvPr>
          <p:cNvSpPr txBox="1"/>
          <p:nvPr/>
        </p:nvSpPr>
        <p:spPr>
          <a:xfrm>
            <a:off x="3833657" y="3846266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3" name="Obraz 2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0C625F17-7A9D-F917-83B8-DE5A94241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9761"/>
            <a:ext cx="7772400" cy="21717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0F9ABE95-5CFC-3142-2723-05FC99398385}"/>
              </a:ext>
            </a:extLst>
          </p:cNvPr>
          <p:cNvSpPr txBox="1"/>
          <p:nvPr/>
        </p:nvSpPr>
        <p:spPr>
          <a:xfrm>
            <a:off x="3833656" y="6445086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</a:p>
        </p:txBody>
      </p:sp>
    </p:spTree>
    <p:extLst>
      <p:ext uri="{BB962C8B-B14F-4D97-AF65-F5344CB8AC3E}">
        <p14:creationId xmlns:p14="http://schemas.microsoft.com/office/powerpoint/2010/main" val="546946339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1F2C-540D-B503-13B6-837593A9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Engagement Time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C2622B-8001-1253-0DBF-2B62674B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11" y="1796574"/>
            <a:ext cx="5638800" cy="24807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2E9809-633F-838E-DC8D-0FD9A28D0925}"/>
              </a:ext>
            </a:extLst>
          </p:cNvPr>
          <p:cNvSpPr txBox="1"/>
          <p:nvPr/>
        </p:nvSpPr>
        <p:spPr>
          <a:xfrm>
            <a:off x="6252411" y="1991307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3" name="Obraz 2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D1DE62F2-2765-C198-8283-B7CFF0C19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1" y="4290261"/>
            <a:ext cx="5642810" cy="2524627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F0EF6F91-0121-094F-25B0-6229F10B45FF}"/>
              </a:ext>
            </a:extLst>
          </p:cNvPr>
          <p:cNvSpPr txBox="1"/>
          <p:nvPr/>
        </p:nvSpPr>
        <p:spPr>
          <a:xfrm>
            <a:off x="6432884" y="4554032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</a:p>
        </p:txBody>
      </p:sp>
    </p:spTree>
    <p:extLst>
      <p:ext uri="{BB962C8B-B14F-4D97-AF65-F5344CB8AC3E}">
        <p14:creationId xmlns:p14="http://schemas.microsoft.com/office/powerpoint/2010/main" val="2855063046"/>
      </p:ext>
    </p:extLst>
  </p:cSld>
  <p:clrMapOvr>
    <a:masterClrMapping/>
  </p:clrMapOvr>
  <p:transition>
    <p:randomBa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A4FA-D931-0A76-270E-AC3FE6CC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Revenue for the whole day: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7D8CF2-9BE4-4DF7-80DE-E6B29E152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39597"/>
            <a:ext cx="5721015" cy="2539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B32E40-EA72-2F0C-0870-AB66FB315932}"/>
              </a:ext>
            </a:extLst>
          </p:cNvPr>
          <p:cNvSpPr txBox="1"/>
          <p:nvPr/>
        </p:nvSpPr>
        <p:spPr>
          <a:xfrm>
            <a:off x="6324194" y="1968432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3" name="Obraz 2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ED13A4A8-C481-73A8-4733-62CFA8A6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1" y="4382252"/>
            <a:ext cx="5943600" cy="2352675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AA2F59D4-E813-86E8-68E8-39EA51E3A831}"/>
              </a:ext>
            </a:extLst>
          </p:cNvPr>
          <p:cNvSpPr txBox="1"/>
          <p:nvPr/>
        </p:nvSpPr>
        <p:spPr>
          <a:xfrm>
            <a:off x="6697172" y="4543189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</a:p>
        </p:txBody>
      </p:sp>
    </p:spTree>
    <p:extLst>
      <p:ext uri="{BB962C8B-B14F-4D97-AF65-F5344CB8AC3E}">
        <p14:creationId xmlns:p14="http://schemas.microsoft.com/office/powerpoint/2010/main" val="2317834468"/>
      </p:ext>
    </p:extLst>
  </p:cSld>
  <p:clrMapOvr>
    <a:masterClrMapping/>
  </p:clrMapOvr>
  <p:transition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A2B54-04DB-43FB-B1FB-A58C7938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Product Interest &amp; Visibility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127F5-42B0-6EDC-26DD-DBA27CD3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95" y="1848778"/>
            <a:ext cx="5690936" cy="2243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821EEB-1D2E-ABBC-77BA-2A105E52D460}"/>
              </a:ext>
            </a:extLst>
          </p:cNvPr>
          <p:cNvSpPr txBox="1"/>
          <p:nvPr/>
        </p:nvSpPr>
        <p:spPr>
          <a:xfrm>
            <a:off x="6432884" y="2027019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3" name="Obraz 2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51C72B73-742F-BDA5-6A38-FE33733D2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0" y="4239878"/>
            <a:ext cx="5943600" cy="2276475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446D7325-366A-5471-A218-1EE34B023F87}"/>
              </a:ext>
            </a:extLst>
          </p:cNvPr>
          <p:cNvSpPr txBox="1"/>
          <p:nvPr/>
        </p:nvSpPr>
        <p:spPr>
          <a:xfrm>
            <a:off x="6553199" y="4505524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</a:p>
        </p:txBody>
      </p:sp>
    </p:spTree>
    <p:extLst>
      <p:ext uri="{BB962C8B-B14F-4D97-AF65-F5344CB8AC3E}">
        <p14:creationId xmlns:p14="http://schemas.microsoft.com/office/powerpoint/2010/main" val="3749070821"/>
      </p:ext>
    </p:extLst>
  </p:cSld>
  <p:clrMapOvr>
    <a:masterClrMapping/>
  </p:clrMapOvr>
  <p:transition>
    <p:randomBa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757C-89B4-574F-0349-4579EAE6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Purchase funnel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EE6AFC-DC5D-7B46-D411-8A00D2617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11" y="1828800"/>
            <a:ext cx="7262019" cy="22201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EDFFA1-A941-9104-A8C9-1DB42AE64CC7}"/>
              </a:ext>
            </a:extLst>
          </p:cNvPr>
          <p:cNvSpPr txBox="1"/>
          <p:nvPr/>
        </p:nvSpPr>
        <p:spPr>
          <a:xfrm>
            <a:off x="7548887" y="4048965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3" name="Obraz 2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44770E2D-C42E-ACCD-825A-46F12EDEB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1" y="4300538"/>
            <a:ext cx="7267073" cy="2359693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F06416C1-4797-67BE-3DA8-096ED22B8E37}"/>
              </a:ext>
            </a:extLst>
          </p:cNvPr>
          <p:cNvSpPr txBox="1"/>
          <p:nvPr/>
        </p:nvSpPr>
        <p:spPr>
          <a:xfrm>
            <a:off x="7669202" y="6599659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  <a:endParaRPr lang="en-US" sz="1100" i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3708461"/>
      </p:ext>
    </p:extLst>
  </p:cSld>
  <p:clrMapOvr>
    <a:masterClrMapping/>
  </p:clrMapOvr>
  <p:transition>
    <p:randomBa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08B8-9CC8-5902-31DD-350DC0992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Customer retention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F7243-827E-05BE-92AC-7F92437B8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89" y="1777578"/>
            <a:ext cx="4457700" cy="2475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820B1-A07C-869E-5B2B-CACAD95252B7}"/>
              </a:ext>
            </a:extLst>
          </p:cNvPr>
          <p:cNvSpPr txBox="1"/>
          <p:nvPr/>
        </p:nvSpPr>
        <p:spPr>
          <a:xfrm>
            <a:off x="5212275" y="1896383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Data from whole day</a:t>
            </a:r>
          </a:p>
        </p:txBody>
      </p:sp>
      <p:pic>
        <p:nvPicPr>
          <p:cNvPr id="3" name="Obraz 2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CFF1B541-3766-094E-DA68-7CFE3C605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79" y="4265447"/>
            <a:ext cx="5715000" cy="2502067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A92EC747-38A9-0295-60E0-F3D47EDD7230}"/>
              </a:ext>
            </a:extLst>
          </p:cNvPr>
          <p:cNvSpPr txBox="1"/>
          <p:nvPr/>
        </p:nvSpPr>
        <p:spPr>
          <a:xfrm>
            <a:off x="4959611" y="2919066"/>
            <a:ext cx="4074907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highlight>
                  <a:srgbClr val="FFFFFF"/>
                </a:highlight>
                <a:latin typeface="Aptos"/>
                <a:cs typeface="Arial"/>
              </a:rPr>
              <a:t>Data Limitation</a:t>
            </a:r>
            <a:r>
              <a:rPr lang="en-US" sz="1200" dirty="0">
                <a:highlight>
                  <a:srgbClr val="FFFFFF"/>
                </a:highlight>
                <a:latin typeface="Aptos"/>
                <a:cs typeface="Arial"/>
              </a:rPr>
              <a:t>: </a:t>
            </a:r>
            <a:endParaRPr lang="pl-PL">
              <a:cs typeface="Arial"/>
            </a:endParaRPr>
          </a:p>
          <a:p>
            <a:r>
              <a:rPr lang="en-US" sz="1200">
                <a:highlight>
                  <a:srgbClr val="FFFFFF"/>
                </a:highlight>
                <a:latin typeface="Aptos"/>
                <a:cs typeface="Arial"/>
              </a:rPr>
              <a:t>Due to the analysis being focused on a single-hour snapshot,</a:t>
            </a:r>
            <a:endParaRPr lang="pl-PL">
              <a:cs typeface="Arial"/>
            </a:endParaRPr>
          </a:p>
          <a:p>
            <a:r>
              <a:rPr lang="en-US" sz="1200">
                <a:highlight>
                  <a:srgbClr val="FFFFFF"/>
                </a:highlight>
                <a:latin typeface="Aptos"/>
                <a:cs typeface="Arial"/>
              </a:rPr>
              <a:t>long-term retention trends and cohort behaviors</a:t>
            </a:r>
            <a:endParaRPr lang="pl-PL">
              <a:cs typeface="Arial"/>
            </a:endParaRPr>
          </a:p>
          <a:p>
            <a:r>
              <a:rPr lang="en-US" sz="1200" dirty="0">
                <a:highlight>
                  <a:srgbClr val="FFFFFF"/>
                </a:highlight>
                <a:latin typeface="Aptos"/>
                <a:cs typeface="Arial"/>
              </a:rPr>
              <a:t>cannot be fully established.</a:t>
            </a:r>
            <a:endParaRPr lang="pl-PL">
              <a:cs typeface="Arial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0F959B1-911D-F0F4-0911-B781C51735E4}"/>
              </a:ext>
            </a:extLst>
          </p:cNvPr>
          <p:cNvSpPr txBox="1"/>
          <p:nvPr/>
        </p:nvSpPr>
        <p:spPr>
          <a:xfrm>
            <a:off x="6319179" y="4266603"/>
            <a:ext cx="1247457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i="1">
                <a:latin typeface="Arial"/>
                <a:cs typeface="Arial"/>
              </a:rPr>
              <a:t>Data from 16 PM</a:t>
            </a:r>
          </a:p>
        </p:txBody>
      </p:sp>
    </p:spTree>
    <p:extLst>
      <p:ext uri="{BB962C8B-B14F-4D97-AF65-F5344CB8AC3E}">
        <p14:creationId xmlns:p14="http://schemas.microsoft.com/office/powerpoint/2010/main" val="2827480910"/>
      </p:ext>
    </p:extLst>
  </p:cSld>
  <p:clrMapOvr>
    <a:masterClrMapping/>
  </p:clrMapOvr>
  <p:transition>
    <p:randomBa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0948E65B-92F5-460B-EAF0-A7703D2B3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630238"/>
            <a:ext cx="8424862" cy="1035050"/>
          </a:xfrm>
        </p:spPr>
        <p:txBody>
          <a:bodyPr/>
          <a:lstStyle/>
          <a:p>
            <a:r>
              <a:rPr lang="en-US"/>
              <a:t>Conclusions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422BE85-9A55-1AE9-2C4E-767BBB8DA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881188"/>
            <a:ext cx="8424862" cy="4860925"/>
          </a:xfrm>
        </p:spPr>
        <p:txBody>
          <a:bodyPr/>
          <a:lstStyle/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Daily Performance (April 17, 2026)</a:t>
            </a:r>
            <a:endParaRPr lang="en-US" sz="1400"/>
          </a:p>
          <a:p>
            <a:r>
              <a:rPr lang="en-US" sz="1200" b="1">
                <a:ea typeface="+mn-lt"/>
                <a:cs typeface="+mn-lt"/>
              </a:rPr>
              <a:t>Revenue</a:t>
            </a:r>
            <a:r>
              <a:rPr lang="en-US" sz="1200">
                <a:ea typeface="+mn-lt"/>
                <a:cs typeface="+mn-lt"/>
              </a:rPr>
              <a:t>: Total daily revenue of </a:t>
            </a:r>
            <a:r>
              <a:rPr lang="en-US" sz="1200" b="1">
                <a:ea typeface="+mn-lt"/>
                <a:cs typeface="+mn-lt"/>
              </a:rPr>
              <a:t>$8,971.83</a:t>
            </a:r>
            <a:r>
              <a:rPr lang="en-US" sz="1200">
                <a:ea typeface="+mn-lt"/>
                <a:cs typeface="+mn-lt"/>
              </a:rPr>
              <a:t>, with </a:t>
            </a:r>
            <a:r>
              <a:rPr lang="en-US" sz="1200" b="1">
                <a:ea typeface="+mn-lt"/>
                <a:cs typeface="+mn-lt"/>
              </a:rPr>
              <a:t>98.5%</a:t>
            </a:r>
            <a:r>
              <a:rPr lang="en-US" sz="1200">
                <a:ea typeface="+mn-lt"/>
                <a:cs typeface="+mn-lt"/>
              </a:rPr>
              <a:t> generated by the </a:t>
            </a:r>
            <a:r>
              <a:rPr lang="en-US" sz="1200" b="1">
                <a:ea typeface="+mn-lt"/>
                <a:cs typeface="+mn-lt"/>
              </a:rPr>
              <a:t>United States</a:t>
            </a:r>
            <a:r>
              <a:rPr lang="en-US" sz="1200">
                <a:ea typeface="+mn-lt"/>
                <a:cs typeface="+mn-lt"/>
              </a:rPr>
              <a:t>. </a:t>
            </a:r>
            <a:endParaRPr lang="en-US" sz="1200" dirty="0"/>
          </a:p>
          <a:p>
            <a:r>
              <a:rPr lang="en-US" sz="1200" b="1">
                <a:ea typeface="+mn-lt"/>
                <a:cs typeface="+mn-lt"/>
              </a:rPr>
              <a:t>Browser</a:t>
            </a:r>
            <a:r>
              <a:rPr lang="en-US" sz="1200">
                <a:ea typeface="+mn-lt"/>
                <a:cs typeface="+mn-lt"/>
              </a:rPr>
              <a:t>: </a:t>
            </a:r>
            <a:r>
              <a:rPr lang="en-US" sz="1200" b="1">
                <a:ea typeface="+mn-lt"/>
                <a:cs typeface="+mn-lt"/>
              </a:rPr>
              <a:t>Chrome</a:t>
            </a:r>
            <a:r>
              <a:rPr lang="en-US" sz="1200">
                <a:ea typeface="+mn-lt"/>
                <a:cs typeface="+mn-lt"/>
              </a:rPr>
              <a:t> dominates the ecosystem, accounting for </a:t>
            </a:r>
            <a:r>
              <a:rPr lang="en-US" sz="1200" b="1">
                <a:ea typeface="+mn-lt"/>
                <a:cs typeface="+mn-lt"/>
              </a:rPr>
              <a:t>88.4%</a:t>
            </a:r>
            <a:r>
              <a:rPr lang="en-US" sz="1200">
                <a:ea typeface="+mn-lt"/>
                <a:cs typeface="+mn-lt"/>
              </a:rPr>
              <a:t> of users and </a:t>
            </a:r>
            <a:r>
              <a:rPr lang="en-US" sz="1200" b="1">
                <a:ea typeface="+mn-lt"/>
                <a:cs typeface="+mn-lt"/>
              </a:rPr>
              <a:t>98.5%</a:t>
            </a:r>
            <a:r>
              <a:rPr lang="en-US" sz="1200">
                <a:ea typeface="+mn-lt"/>
                <a:cs typeface="+mn-lt"/>
              </a:rPr>
              <a:t> of total revenue. </a:t>
            </a:r>
            <a:endParaRPr lang="en-US" sz="1200" dirty="0"/>
          </a:p>
          <a:p>
            <a:r>
              <a:rPr lang="en-US" sz="1200" b="1">
                <a:ea typeface="+mn-lt"/>
                <a:cs typeface="+mn-lt"/>
              </a:rPr>
              <a:t>Device Gap</a:t>
            </a:r>
            <a:r>
              <a:rPr lang="en-US" sz="1200">
                <a:ea typeface="+mn-lt"/>
                <a:cs typeface="+mn-lt"/>
              </a:rPr>
              <a:t>: </a:t>
            </a:r>
            <a:r>
              <a:rPr lang="en-US" sz="1200" b="1">
                <a:ea typeface="+mn-lt"/>
                <a:cs typeface="+mn-lt"/>
              </a:rPr>
              <a:t>Mobile</a:t>
            </a:r>
            <a:r>
              <a:rPr lang="en-US" sz="1200">
                <a:ea typeface="+mn-lt"/>
                <a:cs typeface="+mn-lt"/>
              </a:rPr>
              <a:t> drives the highest traffic volume , but </a:t>
            </a:r>
            <a:r>
              <a:rPr lang="en-US" sz="1200" b="1">
                <a:ea typeface="+mn-lt"/>
                <a:cs typeface="+mn-lt"/>
              </a:rPr>
              <a:t>Desktop</a:t>
            </a:r>
            <a:r>
              <a:rPr lang="en-US" sz="1200">
                <a:ea typeface="+mn-lt"/>
                <a:cs typeface="+mn-lt"/>
              </a:rPr>
              <a:t> delivers superior engagement (</a:t>
            </a:r>
            <a:r>
              <a:rPr lang="en-US" sz="1200" b="1">
                <a:ea typeface="+mn-lt"/>
                <a:cs typeface="+mn-lt"/>
              </a:rPr>
              <a:t>56.91%</a:t>
            </a:r>
            <a:r>
              <a:rPr lang="en-US" sz="1200">
                <a:ea typeface="+mn-lt"/>
                <a:cs typeface="+mn-lt"/>
              </a:rPr>
              <a:t>) and higher conversion power. </a:t>
            </a:r>
            <a:endParaRPr lang="en-US" sz="1200" dirty="0"/>
          </a:p>
          <a:p>
            <a:r>
              <a:rPr lang="en-US" sz="1200" b="1">
                <a:ea typeface="+mn-lt"/>
                <a:cs typeface="+mn-lt"/>
              </a:rPr>
              <a:t>Funnel Weakness</a:t>
            </a:r>
            <a:r>
              <a:rPr lang="en-US" sz="1200">
                <a:ea typeface="+mn-lt"/>
                <a:cs typeface="+mn-lt"/>
              </a:rPr>
              <a:t>: A critical drop-off occurs at the start, with over </a:t>
            </a:r>
            <a:r>
              <a:rPr lang="en-US" sz="1200" b="1">
                <a:ea typeface="+mn-lt"/>
                <a:cs typeface="+mn-lt"/>
              </a:rPr>
              <a:t>80%</a:t>
            </a:r>
            <a:r>
              <a:rPr lang="en-US" sz="1200">
                <a:ea typeface="+mn-lt"/>
                <a:cs typeface="+mn-lt"/>
              </a:rPr>
              <a:t> of users leaving before viewing a product. </a:t>
            </a:r>
            <a:endParaRPr lang="en-US" sz="1200" dirty="0"/>
          </a:p>
          <a:p>
            <a:pPr marL="0" indent="0">
              <a:buNone/>
            </a:pPr>
            <a:endParaRPr lang="en-US" sz="14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Hourly Insights (4:00 PM – 5:00 PM UTC)</a:t>
            </a:r>
            <a:endParaRPr lang="en-US" sz="1400"/>
          </a:p>
          <a:p>
            <a:r>
              <a:rPr lang="en-US" sz="1200" b="1">
                <a:ea typeface="+mn-lt"/>
                <a:cs typeface="+mn-lt"/>
              </a:rPr>
              <a:t>Short-term Activity</a:t>
            </a:r>
            <a:r>
              <a:rPr lang="en-US" sz="1200">
                <a:ea typeface="+mn-lt"/>
                <a:cs typeface="+mn-lt"/>
              </a:rPr>
              <a:t>: </a:t>
            </a:r>
            <a:r>
              <a:rPr lang="en-US" sz="1200" b="1">
                <a:ea typeface="+mn-lt"/>
                <a:cs typeface="+mn-lt"/>
              </a:rPr>
              <a:t>142 active users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>
                <a:ea typeface="+mn-lt"/>
                <a:cs typeface="+mn-lt"/>
              </a:rPr>
              <a:t>generated </a:t>
            </a:r>
            <a:r>
              <a:rPr lang="en-US" sz="1200" b="1">
                <a:ea typeface="+mn-lt"/>
                <a:cs typeface="+mn-lt"/>
              </a:rPr>
              <a:t>$68.39</a:t>
            </a:r>
            <a:r>
              <a:rPr lang="en-US" sz="1200">
                <a:ea typeface="+mn-lt"/>
                <a:cs typeface="+mn-lt"/>
              </a:rPr>
              <a:t> in revenue, driven exclusively by </a:t>
            </a:r>
            <a:r>
              <a:rPr lang="en-US" sz="1200" b="1">
                <a:ea typeface="+mn-lt"/>
                <a:cs typeface="+mn-lt"/>
              </a:rPr>
              <a:t>Macintosh</a:t>
            </a:r>
            <a:r>
              <a:rPr lang="en-US" sz="1200">
                <a:ea typeface="+mn-lt"/>
                <a:cs typeface="+mn-lt"/>
              </a:rPr>
              <a:t> users. </a:t>
            </a:r>
            <a:endParaRPr lang="en-US" sz="1200" dirty="0"/>
          </a:p>
          <a:p>
            <a:r>
              <a:rPr lang="en-US" sz="1200" b="1">
                <a:ea typeface="+mn-lt"/>
                <a:cs typeface="+mn-lt"/>
              </a:rPr>
              <a:t>Acquisition</a:t>
            </a:r>
            <a:r>
              <a:rPr lang="en-US" sz="1200">
                <a:ea typeface="+mn-lt"/>
                <a:cs typeface="+mn-lt"/>
              </a:rPr>
              <a:t>: </a:t>
            </a:r>
            <a:r>
              <a:rPr lang="en-US" sz="1200" b="1">
                <a:ea typeface="+mn-lt"/>
                <a:cs typeface="+mn-lt"/>
              </a:rPr>
              <a:t>Direct</a:t>
            </a:r>
            <a:r>
              <a:rPr lang="en-US" sz="1200">
                <a:ea typeface="+mn-lt"/>
                <a:cs typeface="+mn-lt"/>
              </a:rPr>
              <a:t> traffic provides the most volume , while </a:t>
            </a:r>
            <a:r>
              <a:rPr lang="en-US" sz="1200" b="1">
                <a:ea typeface="+mn-lt"/>
                <a:cs typeface="+mn-lt"/>
              </a:rPr>
              <a:t>Referral</a:t>
            </a:r>
            <a:r>
              <a:rPr lang="en-US" sz="1200">
                <a:ea typeface="+mn-lt"/>
                <a:cs typeface="+mn-lt"/>
              </a:rPr>
              <a:t> and </a:t>
            </a:r>
            <a:r>
              <a:rPr lang="en-US" sz="1200" b="1">
                <a:ea typeface="+mn-lt"/>
                <a:cs typeface="+mn-lt"/>
              </a:rPr>
              <a:t>Organic Search</a:t>
            </a:r>
            <a:r>
              <a:rPr lang="en-US" sz="1200">
                <a:ea typeface="+mn-lt"/>
                <a:cs typeface="+mn-lt"/>
              </a:rPr>
              <a:t> yield the highest conversion quality. </a:t>
            </a:r>
            <a:endParaRPr lang="en-US" sz="1200" dirty="0"/>
          </a:p>
          <a:p>
            <a:r>
              <a:rPr lang="en-US" sz="1200" b="1">
                <a:ea typeface="+mn-lt"/>
                <a:cs typeface="+mn-lt"/>
              </a:rPr>
              <a:t>Top Items</a:t>
            </a:r>
            <a:r>
              <a:rPr lang="en-US" sz="1200">
                <a:ea typeface="+mn-lt"/>
                <a:cs typeface="+mn-lt"/>
              </a:rPr>
              <a:t>: High interest in </a:t>
            </a:r>
            <a:r>
              <a:rPr lang="en-US" sz="1200" b="1">
                <a:ea typeface="+mn-lt"/>
                <a:cs typeface="+mn-lt"/>
              </a:rPr>
              <a:t>New Arrivals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>
                <a:ea typeface="+mn-lt"/>
                <a:cs typeface="+mn-lt"/>
              </a:rPr>
              <a:t>and </a:t>
            </a:r>
            <a:r>
              <a:rPr lang="en-US" sz="1200" b="1">
                <a:ea typeface="+mn-lt"/>
                <a:cs typeface="+mn-lt"/>
              </a:rPr>
              <a:t>Apparel</a:t>
            </a:r>
            <a:r>
              <a:rPr lang="en-US" sz="1200">
                <a:ea typeface="+mn-lt"/>
                <a:cs typeface="+mn-lt"/>
              </a:rPr>
              <a:t> , though hourly sales were limited to small accessories like mugs and keychains. 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Key Recommendations</a:t>
            </a:r>
            <a:endParaRPr lang="en-US" sz="1400"/>
          </a:p>
          <a:p>
            <a:r>
              <a:rPr lang="en-US" sz="1200" b="1" dirty="0">
                <a:ea typeface="+mn-lt"/>
                <a:cs typeface="+mn-lt"/>
              </a:rPr>
              <a:t>Mobile Optimization</a:t>
            </a:r>
            <a:r>
              <a:rPr lang="en-US" sz="1200" dirty="0">
                <a:ea typeface="+mn-lt"/>
                <a:cs typeface="+mn-lt"/>
              </a:rPr>
              <a:t>: High mobile traffic fails to convert effectively; urgent need to streamline the mobile checkout path. 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5316883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1_Projekt domyślny">
  <a:themeElements>
    <a:clrScheme name="1_Projekt domyślny 1">
      <a:dk1>
        <a:srgbClr val="000000"/>
      </a:dk1>
      <a:lt1>
        <a:srgbClr val="FFFFFF"/>
      </a:lt1>
      <a:dk2>
        <a:srgbClr val="FFEBD5"/>
      </a:dk2>
      <a:lt2>
        <a:srgbClr val="78120A"/>
      </a:lt2>
      <a:accent1>
        <a:srgbClr val="E32213"/>
      </a:accent1>
      <a:accent2>
        <a:srgbClr val="FFD3A1"/>
      </a:accent2>
      <a:accent3>
        <a:srgbClr val="FFFFFF"/>
      </a:accent3>
      <a:accent4>
        <a:srgbClr val="000000"/>
      </a:accent4>
      <a:accent5>
        <a:srgbClr val="EFABAA"/>
      </a:accent5>
      <a:accent6>
        <a:srgbClr val="E7BF91"/>
      </a:accent6>
      <a:hlink>
        <a:srgbClr val="FFD9AF"/>
      </a:hlink>
      <a:folHlink>
        <a:srgbClr val="FFB25D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1_Projekt domyślny</Template>
  <Application>Microsoft Office PowerPoint</Application>
  <PresentationFormat>Pokaz na ekranie (4:3)</PresentationFormat>
  <Slides>17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18" baseType="lpstr">
      <vt:lpstr>1_Projekt domyślny</vt:lpstr>
      <vt:lpstr>Web-based Systems Project 2 – Google Analytics</vt:lpstr>
      <vt:lpstr>Goals of the project</vt:lpstr>
      <vt:lpstr>Customer Acquisition Analysis </vt:lpstr>
      <vt:lpstr>Technology Performance Analysis </vt:lpstr>
      <vt:lpstr>Browsers: Analysis of the most popular Browsers used by customers. </vt:lpstr>
      <vt:lpstr>Operating Systems </vt:lpstr>
      <vt:lpstr>Traffic Acquisition Analysis </vt:lpstr>
      <vt:lpstr>Customer Engagement Analysis &amp; Site structure </vt:lpstr>
      <vt:lpstr>User Path Exploration Analysis </vt:lpstr>
      <vt:lpstr>Active Users </vt:lpstr>
      <vt:lpstr>Number of events  </vt:lpstr>
      <vt:lpstr>Engagement Time </vt:lpstr>
      <vt:lpstr>Revenue for the whole day: </vt:lpstr>
      <vt:lpstr>Product Interest &amp; Visibility </vt:lpstr>
      <vt:lpstr>Purchase funnel </vt:lpstr>
      <vt:lpstr>Customer retention 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Kamiński (273107)</dc:creator>
  <cp:revision>249</cp:revision>
  <dcterms:created xsi:type="dcterms:W3CDTF">2026-05-13T10:12:13Z</dcterms:created>
  <dcterms:modified xsi:type="dcterms:W3CDTF">2026-05-13T11:56:59Z</dcterms:modified>
</cp:coreProperties>
</file>